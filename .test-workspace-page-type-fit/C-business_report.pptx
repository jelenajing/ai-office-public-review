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  <p:sldId id="2011" r:id="rId1011"/>
    <p:sldId id="2012" r:id="rId10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187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F3"/>
    <a:srgbClr val="4F6DD9"/>
    <a:srgbClr val="8EC4F9"/>
    <a:srgbClr val="ECF1FB"/>
    <a:srgbClr val="2477DF"/>
    <a:srgbClr val="0A5DB8"/>
    <a:srgbClr val="075DB6"/>
    <a:srgbClr val="0E8AE6"/>
    <a:srgbClr val="333D4F"/>
    <a:srgbClr val="356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180"/>
      </p:cViewPr>
      <p:guideLst>
        <p:guide orient="horz" pos="2160"/>
        <p:guide pos="3840"/>
        <p:guide pos="597"/>
        <p:guide pos="7083"/>
        <p:guide orient="horz" pos="187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  <Relationship Id="rId1011" Type="http://schemas.openxmlformats.org/officeDocument/2006/relationships/slide" Target="slides/slide11.xml"/>
  <Relationship Id="rId1012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91A9-7D51-45AC-99CF-5B4BE8E5D258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1BCF9-41BE-4529-A674-4CB1B70F52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0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06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9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503906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611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668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0668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9009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081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3081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15EE7BC-0FCF-7A08-C677-98F30B287980}"/>
              </a:ext>
            </a:extLst>
          </p:cNvPr>
          <p:cNvSpPr/>
          <p:nvPr userDrawn="1"/>
        </p:nvSpPr>
        <p:spPr>
          <a:xfrm>
            <a:off x="0" y="5815009"/>
            <a:ext cx="11656766" cy="1042991"/>
          </a:xfrm>
          <a:custGeom>
            <a:avLst/>
            <a:gdLst>
              <a:gd name="csX0" fmla="*/ 4552950 w 11656766"/>
              <a:gd name="csY0" fmla="*/ 0 h 1042991"/>
              <a:gd name="csX1" fmla="*/ 11322466 w 11656766"/>
              <a:gd name="csY1" fmla="*/ 929698 h 1042991"/>
              <a:gd name="csX2" fmla="*/ 11656766 w 11656766"/>
              <a:gd name="csY2" fmla="*/ 1042991 h 1042991"/>
              <a:gd name="csX3" fmla="*/ 0 w 11656766"/>
              <a:gd name="csY3" fmla="*/ 1042991 h 1042991"/>
              <a:gd name="csX4" fmla="*/ 0 w 11656766"/>
              <a:gd name="csY4" fmla="*/ 387139 h 1042991"/>
              <a:gd name="csX5" fmla="*/ 188043 w 11656766"/>
              <a:gd name="csY5" fmla="*/ 352905 h 1042991"/>
              <a:gd name="csX6" fmla="*/ 4552950 w 11656766"/>
              <a:gd name="csY6" fmla="*/ 0 h 104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6766" h="1042991">
                <a:moveTo>
                  <a:pt x="4552950" y="0"/>
                </a:moveTo>
                <a:cubicBezTo>
                  <a:pt x="7159396" y="0"/>
                  <a:pt x="9534514" y="352060"/>
                  <a:pt x="11322466" y="929698"/>
                </a:cubicBezTo>
                <a:lnTo>
                  <a:pt x="11656766" y="1042991"/>
                </a:lnTo>
                <a:lnTo>
                  <a:pt x="0" y="104299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AC05647-ACD3-E420-C208-4F3E33853B1C}"/>
              </a:ext>
            </a:extLst>
          </p:cNvPr>
          <p:cNvSpPr/>
          <p:nvPr userDrawn="1"/>
        </p:nvSpPr>
        <p:spPr>
          <a:xfrm>
            <a:off x="0" y="6146457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 descr="D:\51PPT模板网\51pptmoban.com\图片.jpg">
            <a:extLst>
              <a:ext uri="{FF2B5EF4-FFF2-40B4-BE49-F238E27FC236}">
                <a16:creationId xmlns:a16="http://schemas.microsoft.com/office/drawing/2014/main" id="{D16F6829-AF0A-20CC-A55D-86690F9165C1}"/>
              </a:ext>
            </a:extLst>
          </p:cNvPr>
          <p:cNvSpPr/>
          <p:nvPr userDrawn="1"/>
        </p:nvSpPr>
        <p:spPr>
          <a:xfrm>
            <a:off x="11112706" y="5700366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53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7B49B-7BB0-B5A1-0A62-362867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E3DA3-B135-4FB8-2042-3579F1AF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C0808-00A3-FADD-1CC7-7AE71CC3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77A24-D2A0-B339-8664-2DCA3DC6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99E18-68FD-0CC2-3A13-BC2B7B62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1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C674A-5E66-651A-4546-6F84217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78B22-E3EC-E850-58B6-8F0EF2EB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B379F-9DB3-5C64-F352-D05CCF07D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7CB3-1B08-2027-1B99-7C4D759A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CD3D1-DB68-51DB-4A5A-16DB6EE8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76AC1-797C-D34E-7E5C-8D18B90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94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E1BCE-F6B7-DAC8-069D-D36E0FA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CBE06-59D2-CAEB-2819-3DF22DA6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4F479-EE0B-5832-10E4-2C2746B7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35B961-C9AC-52B5-A104-EC58CF75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8B0689-F36E-0570-EDF5-B479B15A8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36CF38-FCC7-202D-7232-E66B63DF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A9B3F8-8583-901D-8B8F-A0080DA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589911-BE46-35B9-C1BC-F84F4BE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B894-4B66-3ECD-8455-5555B89A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A5FFCC-39F8-C47C-A135-ED56C94C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CD318-03FC-6D0B-89BC-B3C54767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32983-65C6-0373-7AC0-F83AFB5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93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0CA882-9181-AC09-2277-B16FD822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A0F899-82FC-63DC-953B-7FCC481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BA89F-23B6-8DE9-FB79-95D766E0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0DA3C7-8C28-A710-A8AA-F92AF3F46544}"/>
              </a:ext>
            </a:extLst>
          </p:cNvPr>
          <p:cNvSpPr txBox="1"/>
          <p:nvPr userDrawn="1"/>
        </p:nvSpPr>
        <p:spPr>
          <a:xfrm>
            <a:off x="768925" y="52809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32661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E87B3-F7F6-F804-94CF-2C4FE7A4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015F3-08B0-5FF8-7987-21BCDE2A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858DD-AE87-F411-259A-36F44335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1257D-90CC-3F3B-7328-40AC510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D5ED3-F5B8-F375-E150-33CFA825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E5E807-9061-9E0D-5447-C4524C5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1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CCD9F-7045-7840-FCF7-80E99A6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DA590F-2B8B-06C4-9B73-9F07536A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97849-3F02-49BD-02AF-E9452B3B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226607-7EFD-C48C-9482-F2663B22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306AA-EF92-6EEC-9351-4BBFA324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8180F-10C0-2C58-FE33-49EB6C3C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4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A257C-A513-3BF0-9EE3-AE010D0F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3B782-A820-4D54-B801-399A480F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7333E-1070-E7DB-EB38-EC622DB2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5FEBA-5128-A726-940E-CE49DE2E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018EB-C525-116A-534E-9D5CD343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30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CC7DE-79DB-27FB-B259-8407015A6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A9F5E-EE84-D901-0DF9-BEDF573B8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A10A9-F6DB-4E32-B32D-83453E21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FD8CA-9946-DE8A-C0CA-87E97754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20437-62CF-E1E2-E757-9AE8C541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86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73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07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3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3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春生万象心向芳华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一场关于春天与生命的散文随笔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一场关于春天与生命的散文随笔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0E053-E91D-6561-1704-C82D4A20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1CF63BA-43E3-1D1F-AEA4-BC492908E05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F6A56AC-93FD-FD1F-642E-F6BA909BDD19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85BCD65-CAAB-C7C2-4A77-70EB22D8764E}"/>
              </a:ext>
            </a:extLst>
          </p:cNvPr>
          <p:cNvSpPr txBox="1"/>
          <p:nvPr/>
        </p:nvSpPr>
        <p:spPr>
          <a:xfrm>
            <a:off x="5311173" y="18092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B77549F7-9A9E-8061-A760-BA29C18BC6C0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59479-3F98-6417-376C-36C3B7DB5F93}"/>
              </a:ext>
            </a:extLst>
          </p:cNvPr>
          <p:cNvSpPr txBox="1"/>
          <p:nvPr/>
        </p:nvSpPr>
        <p:spPr>
          <a:xfrm>
            <a:off x="5253925" y="1067411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462CFF1-A40C-2166-A923-5A8A140BDC51}"/>
              </a:ext>
            </a:extLst>
          </p:cNvPr>
          <p:cNvGrpSpPr/>
          <p:nvPr/>
        </p:nvGrpSpPr>
        <p:grpSpPr>
          <a:xfrm>
            <a:off x="2003599" y="1903413"/>
            <a:ext cx="8184801" cy="624180"/>
            <a:chOff x="1953357" y="1903413"/>
            <a:chExt cx="8184801" cy="62418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CE0BE0B-2CF4-72FA-7BA3-D612F7D1EC8B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80A66FB-FE3B-A4DC-0C29-E4B80C564AB0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3F7EB5B4-F50C-FC10-4744-317620827A8F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886758D-C974-CBF1-9853-66511FC32138}"/>
                  </a:ext>
                </a:extLst>
              </p:cNvPr>
              <p:cNvSpPr txBox="1"/>
              <p:nvPr/>
            </p:nvSpPr>
            <p:spPr>
              <a:xfrm>
                <a:off x="2038381" y="2008923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01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284848-75F4-3C25-6B79-A2D4E77AFFA3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春之始：破土微光</a:t>
                </a:r>
              </a:p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5BB05835-AAC0-753A-4348-3468C160B431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53" name="矩形: 圆角 152">
                <a:extLst>
                  <a:ext uri="{FF2B5EF4-FFF2-40B4-BE49-F238E27FC236}">
                    <a16:creationId xmlns:a16="http://schemas.microsoft.com/office/drawing/2014/main" id="{C57D5E41-29A8-CF0C-A494-F309411E7535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ED6967F-C666-02D0-51D1-5B89F02FCC1D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C2E55F57-B220-E720-6DEF-E8CE9E2A1C6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13186BC-F421-8521-5455-160ECA40D099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春之韵：繁花似锦</a:t>
                </a:r>
              </a:p>
            </p:txBody>
          </p:sp>
        </p:grp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42D9064-ADDC-8F94-CD5F-3750B5BBC695}"/>
              </a:ext>
            </a:extLst>
          </p:cNvPr>
          <p:cNvGrpSpPr/>
          <p:nvPr/>
        </p:nvGrpSpPr>
        <p:grpSpPr>
          <a:xfrm>
            <a:off x="2003599" y="3930040"/>
            <a:ext cx="8184801" cy="624180"/>
            <a:chOff x="1953357" y="1903413"/>
            <a:chExt cx="8184801" cy="624180"/>
          </a:xfrm>
        </p:grpSpPr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4AB861DA-5AEC-0563-AC60-2DEA75A89CC0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1C96E63C-3F02-141B-3A1B-1794558726BB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29F891DB-DB57-DED8-72CD-61F35413CFE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4AA633FD-8D23-6E9A-8478-67B7ED18ABF0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260E904-6822-D91F-CE47-D89941AA272E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生之悟：枯荣有数</a:t>
                </a:r>
              </a:p>
            </p:txBody>
          </p: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D2CCC0AD-C12D-B49B-FFBD-9D50CBD3B7EB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8317E1DE-DE58-D147-2CD6-8613FDE0BC7D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390AE64F-4C3B-D0AE-8703-8B1FAAAF6C7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B6C8CD0B-1728-381F-F1A5-07AB1E39BED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B88CFAD-F882-252B-132B-87CADE582C41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心之归：静水流深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15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第一章 春之始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冬雪消融，大地回暖。生命在最沉寂的时刻积蓄力量，只为那一瞬的破土而出。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蛰伏与苏醒的辩证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蛰伏是力量的积蓄，而非停滞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顺应自然节律，静待破土之时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世间万物皆有其时。草木在严寒中收敛锋芒，将养分深藏于根脉。这并非退缩，而是一种智慧的等待。待到阳气升腾，冰雪消融，那些看似脆弱的嫩芽，便以不可阻挡之势顶开碎石。人生亦如草木，低谷时的沉默与沉淀，正是为了迎接破局时的绚烂。我们不必畏惧漫长的黑夜，因为每一次蛰伏，都是生命在暗中扎根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春日三候的物候之美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一候东风解冻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二候蛰虫始振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古人观物候以知时节。立春之东风解冻，惊蛰之雷动虫鸣，春分之昼夜平分。每一候皆是自然写给生命的信笺。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春日三候的物候之美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古人观物候以知时节。立春之东风解冻，惊蛰之雷动虫鸣，春分之昼夜平分。每一候皆是自然写给生命的信笺。</a:t>
            </a: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第二章 生之悟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春之繁华终将归于夏之繁茂、秋之静美。生命的意义不在长盛不衰，而在体验每一次绽放与凋零的完整循环。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繁华与留白的平衡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春日百花争艳，令人目不暇接。然中国画讲究计白当黑，生命亦需留白。在喧嚣中守住内心的宁静，方能看清来路与归途。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静水流深从容向春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以柔克刚，静水流深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从容是历经沉淀后的通透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观春水，可见生命之从容。它不似夏日暴雨般狂暴，也不像冬日寒冰般冷硬。它只是静静地流淌，绕过顽石，抚过青苔，将沿途的枯草染绿。人生在世，若能如春水般保持内心的平和，不疾不徐，便能在岁月的长河中，走出属于自己的宽阔河道。从容，不是消极避世，而是历经千帆后的通透与坚定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76FD-9F71-1EAB-7EB0-A5F699E6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9EADB2B9-04DD-FEFD-17CD-242E4700DAEF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7766E2CD-CAFA-B17F-51B7-89E15D557BDD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E714DD-F55C-E99D-0525-647737075E8B}"/>
              </a:ext>
            </a:extLst>
          </p:cNvPr>
          <p:cNvSpPr txBox="1"/>
          <p:nvPr/>
        </p:nvSpPr>
        <p:spPr>
          <a:xfrm>
            <a:off x="4157011" y="1515002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心若向阳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442864A8-303B-34C9-8A32-27524DDDDF49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36B3A45D-1DE0-D17E-DE8F-4F70E37FB2D6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10318CB7-9634-7DA2-0F0A-CED332A10A92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D04FDE0F-B7EC-491B-0CE6-E0DAFBC1166C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245C8056-31FB-15C0-461C-3E2F115457D3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4FF5A8A-A3CF-FBC2-2D51-13E1A43DE23A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E9F53C-79FB-7705-AFC5-1D6336330440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17B9577-C887-2717-E299-F87E0FF2473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3A221382-1675-D515-5AE5-24F75F2BCB3E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C8FB8BC-EE65-E0A1-639F-5650A38A2B64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47F04D1-C12B-767C-44EA-8FC236AA548E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C7FD7FC-FC72-5F84-CE59-69E2526A7B82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B64C5BE3-AF87-2DE3-CB16-AE518394D3E6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74D8EA4-F124-F92C-4C90-33688A836864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走过四季轮回，最终要回归本心。将春日的生机内化为精神的底色，无论外界如何变迁，心中自有不落的春天。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686C2E31-04CB-27AB-5B40-A606943768D4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62E9FB-F4E6-2627-D0A4-742E4DD28305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250CA618-3B0F-AB20-0C9C-6D951F89CCA5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7788BBE6-9AAA-F0DD-6933-72C8E1424F58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CEFD1ECD-717C-FC17-41CB-FBFE9247E31E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A5E56CB5-7FEC-2410-DF9E-2690C961489A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E9DC9A2-F031-05EC-630C-FE63E8F7F39C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27F313D3-DB55-6BFE-C49A-7468D72EAE31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1AF9C41-A7AD-C905-DB89-09B5FD832CE6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</p:spTree>
    <p:extLst>
      <p:ext uri="{BB962C8B-B14F-4D97-AF65-F5344CB8AC3E}">
        <p14:creationId xmlns:p14="http://schemas.microsoft.com/office/powerpoint/2010/main" val="17292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寻回内心的春山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走过四季轮回，最终要回归本心。将春日的生机内化为精神的底色，无论外界如何变迁，心中自有不落的春天。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心若向阳，无惧岁月长。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愿君常沐春风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感谢聆听。愿这缕春风常驻心间，化作前行的力量。生命如春，生生不息，我们下一程再见。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春风有信，花开有期，静候相逢。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czurs3h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2321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 Unicode MS</vt:lpstr>
      <vt:lpstr>Gill Sans</vt:lpstr>
      <vt:lpstr>HarmonyOS Sans SC Light</vt:lpstr>
      <vt:lpstr>等线</vt:lpstr>
      <vt:lpstr>思源黑体 CN Heavy</vt:lpstr>
      <vt:lpstr>宋体</vt:lpstr>
      <vt:lpstr>微软雅黑</vt:lpstr>
      <vt:lpstr>字魂59号-创粗黑</vt:lpstr>
      <vt:lpstr>Arial</vt:lpstr>
      <vt:lpstr>Calibri</vt:lpstr>
      <vt:lpstr>Open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简约弧形几何工作汇报商务通用PPT模板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557</cp:revision>
  <dcterms:created xsi:type="dcterms:W3CDTF">2026-03-27T07:31:40Z</dcterms:created>
  <dcterms:modified xsi:type="dcterms:W3CDTF">2026-05-07T13:19:58Z</dcterms:modified>
  <cp:contentStatus>简约弧形几何工作汇报商务通用PPT模板，www.51pptmoban.com</cp:contentStatus>
  <cp:version>51pptmoban.com（V51PPT-26050701版）</cp:version>
</cp:coreProperties>
</file>