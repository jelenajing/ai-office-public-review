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C59"/>
    <a:srgbClr val="234995"/>
    <a:srgbClr val="CC9933"/>
    <a:srgbClr val="1B3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8" y="19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4503-6779-45FF-B691-997E1C26F926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536DC-329C-494B-B244-974209979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:\51PPT模板网\51pptmoban.com\图片.jpg">
            <a:extLst>
              <a:ext uri="{FF2B5EF4-FFF2-40B4-BE49-F238E27FC236}">
                <a16:creationId xmlns:a16="http://schemas.microsoft.com/office/drawing/2014/main" id="{E74CF6D6-3B9D-2CA7-9A68-78626B9E24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7720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B7C62E65-C790-9ACE-1A24-77CCF1498010}"/>
              </a:ext>
            </a:extLst>
          </p:cNvPr>
          <p:cNvSpPr/>
          <p:nvPr userDrawn="1"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5D1D75D5-D36E-CADA-187D-216F76FEB68E}"/>
              </a:ext>
            </a:extLst>
          </p:cNvPr>
          <p:cNvSpPr/>
          <p:nvPr userDrawn="1"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solidFill>
            <a:schemeClr val="bg1"/>
          </a:solidFill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3E881B3-7043-8F82-D201-7FFBACA92EAD}"/>
              </a:ext>
            </a:extLst>
          </p:cNvPr>
          <p:cNvSpPr/>
          <p:nvPr userDrawn="1"/>
        </p:nvSpPr>
        <p:spPr>
          <a:xfrm rot="10800000">
            <a:off x="3962400" y="101472"/>
            <a:ext cx="4267200" cy="520501"/>
          </a:xfrm>
          <a:prstGeom prst="trapezoid">
            <a:avLst>
              <a:gd name="adj" fmla="val 3964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D:\51PPT模板网\51pptmoban.com\图片.jpg">
            <a:extLst>
              <a:ext uri="{FF2B5EF4-FFF2-40B4-BE49-F238E27FC236}">
                <a16:creationId xmlns:a16="http://schemas.microsoft.com/office/drawing/2014/main" id="{632F3C5A-1E53-07DB-2EC7-1EC8E31F1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0886-21B9-EF7A-D4E0-BA49A178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43C37-CA44-A82B-0F0D-30EC438D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A519F-A5D9-DCC0-7D5C-238A740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5EC33-F02D-6930-FD46-906D7007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BFB4-61D2-BEB0-B96B-6C2CE0E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F46C3-49E3-40E8-52E3-3F996081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AE30-CD44-E540-35F5-4D44CA3BE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AC3A3-B049-D043-BE7D-7421E398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D482-5EE9-80C4-ACC6-CFB2427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54BC2-3D01-0420-6446-4B001A81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2A1F0-7AA6-79B2-0D3A-16FB0A7B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F81B0-3E76-4D6D-0126-1047D0D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57B33-C054-782B-C92A-9FFE0EACC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11E82-303F-043F-7A43-199FA2BB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DD0AD4-9D59-A296-D20F-B3D180BF6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D035B-960C-645F-CCA9-5DBF77BF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7B63C-6109-6713-DCBE-1CC83D47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7DEE79-5894-3AB1-4045-F7F765F5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412F3-2C28-3412-C553-6CC7AD6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1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CF2B1-26EA-595D-C4F2-23266F72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8758F4-725D-FBF2-DC59-881F7495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32297-A43C-7378-463A-9D7F217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141894-40A1-4669-BD63-4F5E5DE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6C49A-990A-3F60-A1AF-6F2BD4A5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55D6A-7F91-F474-C1B5-C94AE87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41A39-13CA-7D7B-C1CB-6A0A65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E4B201-9A5F-745B-23B9-8E0FADC7BE16}"/>
              </a:ext>
            </a:extLst>
          </p:cNvPr>
          <p:cNvSpPr txBox="1"/>
          <p:nvPr userDrawn="1"/>
        </p:nvSpPr>
        <p:spPr>
          <a:xfrm>
            <a:off x="747486" y="544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5297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D2F5-12AB-81D9-900C-64854694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3E42A-97B8-E7EB-207B-FC7DB849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AB621-AD75-51A2-9E2F-41F2F2AE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CC8A7-4494-3090-450A-7CA01F6E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7DC7-33BE-C751-4DAC-3613672E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786FA-9B1A-7397-CD26-B750825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1B2B-0396-83E4-B6F3-14C9B5C5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A75C6E-78D3-24D2-0151-A4BCB6837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2619FE-DF1C-2D74-24E2-91E2371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30F90-B9C3-D20C-6016-52C211B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68695-8B72-EA68-DB76-78D38FF8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FDAC9-67AF-590E-D1D7-11F1BA91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DFB7-F462-549F-5FC5-3A0E51E3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624AD-4C97-8D4B-9E7C-9885B3C1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8EC4F-D192-2953-0351-32A1AECB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C1165-3B42-0D85-55A1-85575C7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E3A8-17E3-4013-C524-0516DF3A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9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C0BD4-4BEF-347C-0FDD-982DD7D12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16CCE-F181-3E55-68AE-BDB3685D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B5E30-CBF0-C161-AC09-9DC3643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976E1-6FCE-2DA1-042D-4A45BA5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FDAE4-E4C1-C88F-0E4A-593B4069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75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9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7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5BB-5CDE-7C9C-2AD5-5CB87D0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FFFF79B-D362-6C40-C838-D47B3FE4CA17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B2C785-A171-CC57-7330-4BA6DD1C0C75}"/>
              </a:ext>
            </a:extLst>
          </p:cNvPr>
          <p:cNvSpPr txBox="1"/>
          <p:nvPr/>
        </p:nvSpPr>
        <p:spPr>
          <a:xfrm>
            <a:off x="2616326" y="2441585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AI Office 产品介绍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695AF8-21D2-1E51-CE52-F5594DF4D565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61D16EB-C338-DFEB-0687-95D72C840F2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7B47742E-B695-E86B-2470-434EC31FE1C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C663FBE1-7C55-726F-5E4E-0BE5A0E02807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40C216-FBCA-513C-8337-BC8BD6E00619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38CE732-7C1E-84AB-8D34-B5FA959D2900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51100B-1493-A483-2A4D-84CE14181944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6EAE5889-1E19-03DA-72DB-90D9EDEA8638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24BC3FD0-83ED-F112-C1F0-2A42B08CFFAC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193CEF-49A6-C71B-F2E1-8553E4F256E3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60C4318-4CF7-C154-9479-8BBB05EFC506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17A4E3B-9522-F279-AE39-834FEA9AA809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7B3DD9E-37EF-CB3C-464C-A831A4F473E1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726B0FD-308B-4E36-9155-AE6896222DB5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重塑企业生产力，驱动智能办公新范式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275F04-884F-0839-603B-565B11BC55CE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C149A07F-3EC5-DA2A-FBAB-7A0AE9761240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170656A-C4ED-1BDB-DA7C-0F379EB46DB3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F9C9D9D-F6F7-753C-2D7E-637F704CE001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26A1E17-5E7B-8ECF-D1B9-40337DDB9AD2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4FA24E-D7D6-380C-5827-3B96ACF4CBDA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A79F1405-7F65-A648-9066-DED37035AC58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8EC1E8-7150-0553-A08E-6908F1C9329B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611423C-DB32-CAD1-7F7D-6089AA55E01A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3A40524E-0F8C-233B-565B-100E65E06021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8C0A73B-6B1A-11D9-5EC2-F6B941C383FD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B1CA560-5B3A-FCDB-AD69-A8E221BD3A56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84B65ED-5217-40F2-FC02-A855541F269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70EC61-9326-5249-8B95-B2643E261DD8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重塑企业生产力，驱动智能办公新范式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8925F2-9F5E-8278-5B27-12DFD4C17AAF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5D7ED55C-B25E-52E4-4DB8-606EBE99AAA9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D1F90105-F865-59E9-B424-5C04C8DDAB94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 descr="D:\51PPT模板网\51pptmoban.com\图片.jpg">
            <a:extLst>
              <a:ext uri="{FF2B5EF4-FFF2-40B4-BE49-F238E27FC236}">
                <a16:creationId xmlns:a16="http://schemas.microsoft.com/office/drawing/2014/main" id="{8D4ABD3D-38DD-0706-D4BF-720934ACB514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53CE4307-C2B1-63BC-3DCA-03070BCA3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484C949-9440-56A5-CB24-084D28D838D5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7E812A6-8DAC-54DD-3E7C-945139FB7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2642E0D6-A52A-EB7B-B7F0-19CA55DC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81298EC2-14DF-7546-828D-5584E81F1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CD7F1413-55C0-9932-B00C-DC7506BF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6D40821-5878-596D-ABAB-8830EFA2C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7D0961D8-DB54-3FD0-C55A-AB1B056DC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3994581-9E81-1EDA-79A0-ACEAEB92FCF9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CC13A3E0-3DFC-AFA7-0457-B22444BBC8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0CB044-3A00-0657-A670-D88CB8164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1EF90B4-B6DA-CE20-0A78-FBEF2F532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735CA4DD-C2DE-64E4-C4E7-0382D810E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27C1136-78A1-FEF7-0CDB-4FB652653E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306C42AD-3FAC-1E8C-E7AE-D1855BF665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329-566B-6F85-36F7-E68F24F8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5302869-3BDB-9CBE-5DE0-CDA5AB1C3B5E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FC122C28-675E-0EE7-3C4C-9B09E9847A1F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3089D9-5551-65F9-BA7A-08265E57A134}"/>
              </a:ext>
            </a:extLst>
          </p:cNvPr>
          <p:cNvSpPr txBox="1"/>
          <p:nvPr/>
        </p:nvSpPr>
        <p:spPr>
          <a:xfrm>
            <a:off x="5325682" y="52560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D5AC5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61BB7B-F752-2B80-64EC-C77415EF7A12}"/>
              </a:ext>
            </a:extLst>
          </p:cNvPr>
          <p:cNvGrpSpPr/>
          <p:nvPr/>
        </p:nvGrpSpPr>
        <p:grpSpPr>
          <a:xfrm>
            <a:off x="4804766" y="1391807"/>
            <a:ext cx="2582467" cy="229065"/>
            <a:chOff x="2472431" y="4836245"/>
            <a:chExt cx="4484651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38D527C-3DD6-11AA-C2B7-EA3FF4BFA5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1677" y="4865961"/>
              <a:ext cx="3528000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D5AC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D82CF1-8650-9CBC-8E65-DC9E736B0A96}"/>
                </a:ext>
              </a:extLst>
            </p:cNvPr>
            <p:cNvGrpSpPr/>
            <p:nvPr/>
          </p:nvGrpSpPr>
          <p:grpSpPr>
            <a:xfrm flipV="1">
              <a:off x="2472431" y="4836245"/>
              <a:ext cx="850957" cy="397789"/>
              <a:chOff x="10354675" y="4505947"/>
              <a:chExt cx="850957" cy="397789"/>
            </a:xfrm>
            <a:solidFill>
              <a:srgbClr val="D5AC59"/>
            </a:solidFill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6BBB61C-8A7D-C1A3-4F8D-ECFAC4466E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FF2587C7-9495-1229-31F7-5F72FCD80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2BE47568-5C82-7FF4-5A4B-A74BE3195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BDB29C6C-79F3-6DB2-7B34-0D722DF5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56AB37E1-68B7-A4AA-2614-51C1B4108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60BEE990-4457-4371-F6EF-BD6AB62BC6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47B7A6-7DB2-6123-26A4-3E0C2B7E8F59}"/>
                </a:ext>
              </a:extLst>
            </p:cNvPr>
            <p:cNvGrpSpPr/>
            <p:nvPr/>
          </p:nvGrpSpPr>
          <p:grpSpPr>
            <a:xfrm flipV="1">
              <a:off x="6106800" y="4836245"/>
              <a:ext cx="850282" cy="397789"/>
              <a:chOff x="13179043" y="4505947"/>
              <a:chExt cx="850282" cy="397789"/>
            </a:xfrm>
            <a:solidFill>
              <a:srgbClr val="D5AC59"/>
            </a:solidFill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AB2CC1C4-2F06-3739-C844-3EFE632C1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E75FF60A-FD1A-0F8E-1E77-880D1A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14A68947-CD3F-A79C-969E-BDC86CDA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A13F68-57D0-C2E2-B73B-5195A358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C14DB3A9-80F7-96EB-FC69-4466F57308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A34184C-4FBE-26E0-C590-1FF00CBD5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6923A1A-784A-87D6-17E8-6F4DE3899C4B}"/>
              </a:ext>
            </a:extLst>
          </p:cNvPr>
          <p:cNvSpPr txBox="1"/>
          <p:nvPr/>
        </p:nvSpPr>
        <p:spPr>
          <a:xfrm>
            <a:off x="5244013" y="1596222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rgbClr val="D5AC59"/>
                </a:solidFill>
              </a:rPr>
              <a:t>CONTENTS</a:t>
            </a:r>
            <a:endParaRPr lang="zh-CN" altLang="en-US" sz="1100" dirty="0">
              <a:solidFill>
                <a:srgbClr val="D5AC59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E47CE7D-C06D-F999-05CC-777D47786D93}"/>
              </a:ext>
            </a:extLst>
          </p:cNvPr>
          <p:cNvGrpSpPr/>
          <p:nvPr/>
        </p:nvGrpSpPr>
        <p:grpSpPr>
          <a:xfrm>
            <a:off x="2663131" y="2677889"/>
            <a:ext cx="6834627" cy="538510"/>
            <a:chOff x="2663131" y="2677889"/>
            <a:chExt cx="6834627" cy="53851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1AD281-E5E7-6060-8186-B915F5E64333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25" name="缺角矩形 24">
                <a:extLst>
                  <a:ext uri="{FF2B5EF4-FFF2-40B4-BE49-F238E27FC236}">
                    <a16:creationId xmlns:a16="http://schemas.microsoft.com/office/drawing/2014/main" id="{FF85611D-966C-DD10-E1C0-065990357808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8" name="缺角矩形 27">
                <a:extLst>
                  <a:ext uri="{FF2B5EF4-FFF2-40B4-BE49-F238E27FC236}">
                    <a16:creationId xmlns:a16="http://schemas.microsoft.com/office/drawing/2014/main" id="{F0C866E4-4B61-2C7E-F22A-3A941604BA44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EFFD25C-D37F-4BEC-D69F-8722C59EA2C3}"/>
                  </a:ext>
                </a:extLst>
              </p:cNvPr>
              <p:cNvSpPr txBox="1"/>
              <p:nvPr/>
            </p:nvSpPr>
            <p:spPr>
              <a:xfrm>
                <a:off x="2607412" y="2928912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5F5908-95A8-8125-805B-E5B6D65726F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背景与挑战分析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4982C22-E67F-FE76-13B0-A0474BC66038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31" name="缺角矩形 30">
                <a:extLst>
                  <a:ext uri="{FF2B5EF4-FFF2-40B4-BE49-F238E27FC236}">
                    <a16:creationId xmlns:a16="http://schemas.microsoft.com/office/drawing/2014/main" id="{F6423F33-2898-1941-0692-A7F393AE4AB9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6" name="缺角矩形 75">
                <a:extLst>
                  <a:ext uri="{FF2B5EF4-FFF2-40B4-BE49-F238E27FC236}">
                    <a16:creationId xmlns:a16="http://schemas.microsoft.com/office/drawing/2014/main" id="{6CDFFC1D-750C-17F4-D54A-C80BD258DBFE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98CDDD-5AB3-CAB0-81C0-9775E184529E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56D2441-B0AD-0A5E-C112-555531DB0C54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AI Office 核心功能矩阵</a:t>
                </a: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E77C41B-4C38-6D70-9D15-E6903CB7361C}"/>
              </a:ext>
            </a:extLst>
          </p:cNvPr>
          <p:cNvGrpSpPr/>
          <p:nvPr/>
        </p:nvGrpSpPr>
        <p:grpSpPr>
          <a:xfrm>
            <a:off x="2663131" y="4723268"/>
            <a:ext cx="6834627" cy="538510"/>
            <a:chOff x="2663131" y="2677889"/>
            <a:chExt cx="6834627" cy="53851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A7F70F6-152F-2523-D7B6-A5B7B03FBF2D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88" name="缺角矩形 87">
                <a:extLst>
                  <a:ext uri="{FF2B5EF4-FFF2-40B4-BE49-F238E27FC236}">
                    <a16:creationId xmlns:a16="http://schemas.microsoft.com/office/drawing/2014/main" id="{755A7444-F320-8D9A-70EA-4ECE7631AD7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9" name="缺角矩形 88">
                <a:extLst>
                  <a:ext uri="{FF2B5EF4-FFF2-40B4-BE49-F238E27FC236}">
                    <a16:creationId xmlns:a16="http://schemas.microsoft.com/office/drawing/2014/main" id="{CCD21415-17C2-1C1E-EF16-CBDEE6E111EF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FD2FDA5-55F4-672E-4A36-D7D9DE2E7EE6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E3E5DF9-C60E-41A5-B713-01D3912DF792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商业价值与ROI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F139E81-0207-9CCA-977F-24AF88CB9D12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84" name="缺角矩形 83">
                <a:extLst>
                  <a:ext uri="{FF2B5EF4-FFF2-40B4-BE49-F238E27FC236}">
                    <a16:creationId xmlns:a16="http://schemas.microsoft.com/office/drawing/2014/main" id="{EA9D31C8-F736-EAE3-CB53-4BE447F5945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5" name="缺角矩形 84">
                <a:extLst>
                  <a:ext uri="{FF2B5EF4-FFF2-40B4-BE49-F238E27FC236}">
                    <a16:creationId xmlns:a16="http://schemas.microsoft.com/office/drawing/2014/main" id="{1880132E-7C7E-DCC5-1702-E0E00014302D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2231E15-5A22-8D4D-7085-0B7D844AB34A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E721FA-9FC6-D40E-2B71-09446079EA7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实施路径与展望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28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传统办公痛点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传统办公模式面临信息碎片化、流程冗长与人力成本攀升等核心挑战。企业亟需通过智能化手段重构协同链路，释放员工创造力。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办公效率痛点剖析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当前企业办公环境普遍存在三大结构性问题：首先，多系统并行导致数据孤岛效应显著，信息检索耗时占比过高。其次，标准化文档撰写与数据汇总高度依赖人工，错误率与返工率难以控制。最后，传统审批与流转机制缺乏智能路由能力，跨部门协同存在明显延迟。AI Office 针对上述痛点提供端到端解决方案。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传统办公模式已触及效率天花板，智能化升级势在必行。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打通数据断点与自动化基础操作是提升人效的关键路径。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核心功能矩阵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Office 围绕文档创作、会议管理、流程自动化与知识沉淀四大场景，构建闭环智能工作流，实现从输入到输出的无缝衔接。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智能文档与创作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内置企业级大模型，支持多格式文档一键生成、智能排版与风格迁移。内置行业模板库，大幅缩短内容生产周期。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文档生产效率提升70%以上，彻底告别重复排版。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内置企业知识库确保输出内容合规且高度专业。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会议管理与自动化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提供实时语音转写、多语种会议纪要自动生成及待办事项智能拆解。结合RPA引擎，实现会后任务自动分发与进度追踪。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会议产出直接转化为可执行任务，缩短决策落地周期。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RPA无缝对接OA与ERP系统，消除人工二次录入成本。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商业价值与ROI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通过规模化部署AI Office，企业可实现运营成本显著下降与人效大幅提升。平台提供完善的数据看板，量化每一笔技术投入的回报。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投资回报与安全体系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商业价值验证基于多家标杆客户实测数据。在直接收益层面，自动化工单处理与智能文档生成使人均产出提升显著，间接收益体现在跨部门沟通摩擦减少与员工满意度上升。安全方面，平台支持本地化大模型部署，数据不出域，权限管控遵循最小可用原则，满足金融与政务级合规要求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AI Office 投资回收期通常在6-9个月内完成。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企业级安全架构确保数据主权，满足最严苛监管要求。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C85-14CD-7897-A3E5-75D05E2C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5B3BB3-0FC2-17E1-E910-0A5C469057C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E5A3D8A2-32BF-A82B-5A3F-4C7F4C6CC3E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C23302A-076D-ADF9-941C-C2113C346489}"/>
              </a:ext>
            </a:extLst>
          </p:cNvPr>
          <p:cNvSpPr txBox="1"/>
          <p:nvPr/>
        </p:nvSpPr>
        <p:spPr>
          <a:xfrm>
            <a:off x="1494372" y="244158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智启新程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E3759-B7CF-9F01-B9A0-A2976F407E34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FB3FAF-57C6-D010-D884-EC0D9D757D8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60DF3F55-EBDD-70CC-22DC-F96ACF7060E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B8251D8E-7A1F-698F-A950-9FDEB4F6EC22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9A437E-E769-01AB-60F4-84DBA0532552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E1036B-6739-ADC5-EB5A-E963B0EBD8FE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94F446B-DB1E-495D-10F5-E906D1C655F5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D7D7CAC-75BC-B264-ABFC-9D557B39290D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9A689F3-6C68-A4EA-682C-0055A26DCE66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263BE636-A881-0BC9-8372-B221C308C10D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EE01FA8-EA5F-CAB2-B494-02B9F6700342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A2FD559A-686A-5A73-2D91-6B936EC612D4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D5B9257-4281-B33B-A5B3-0D102F510740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554C7-B902-311E-3D46-62EB47A69B97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AI Office 不仅是工具升级，更是组织工作范式的全面进化。我们将持续迭代模型能力，提供定制化部署方案与专属客户成功服务。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9FF7726-6A41-487E-47E6-77AA85F0326A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641A9616-BE99-496A-6CCF-F16327E23DB5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6FDDE12-B0DD-9ADC-FBA8-F884B927C0DF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54C41D5-80BF-EE56-2ABA-D6566F3BC662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57AD5C0-CC22-8162-A6A5-BEB6D85F89AF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CAABE87-CE61-CBA3-854A-29C3E26C538B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24159264-5251-EBAD-2236-F077D07363F1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8CA65259-CDDF-DAC7-BF8C-1A19DBF74037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F3457CF-17B9-F13C-C0D4-35FDFAADAB0F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614CB08F-993C-2D63-1287-9ED100F8F009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D0F58DB-0725-C4BF-33DC-BD031E34B381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360B1F-8620-A36D-3FFB-26F3B576A55A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B96182B-97AF-79C6-DBD7-AEF851B1091F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F44EBA5E-2431-8DB4-77DB-87411767EBBB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86351C-62B4-C857-77B7-750A3FDCAA65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1D9CCBDE-5A12-C962-A526-BA04B99A79C7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886D3B81-5B96-2460-5D75-260A07FAEED0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233E79F-5EFD-21BA-2C79-5418065CAF65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696B0DD-0DEC-C74C-01C1-817A211BE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F829CDD-38AA-2761-64B4-21019C53C446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AE4B6F1-94E1-BDD0-AF9F-D294CECCE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93171678-26C3-EFFB-4C51-87FBCD50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E975E21A-6091-4245-ADA2-244F693F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872E379D-21D3-66AF-7B60-6F18C1C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20C78331-35FC-F728-4A13-C3793BC5CB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54755C8A-0D66-63FC-DD89-BBF6AEBD04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9A3636-B9A2-E5BE-CD5A-57989072F820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53BE5ACF-DB45-1B71-2887-FE1A92754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C09FC2D7-9724-FC26-7BB7-635323842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EFF9AC59-D971-8518-201C-C93FB70A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69EFA3-B21A-7A82-41A5-AFDC127A8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5DA78A9-329A-C760-EE68-BD30208B4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5E7422C2-575F-69CE-9A0E-78984480A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3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ubikxvs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2548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HarmonyOS Sans SC Black</vt:lpstr>
      <vt:lpstr>HarmonyOS Sans SC Light</vt:lpstr>
      <vt:lpstr>MiSans Semibold</vt:lpstr>
      <vt:lpstr>等线</vt:lpstr>
      <vt:lpstr>思源黑体 CN Heavy</vt:lpstr>
      <vt:lpstr>思源黑体 CN Normal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蓝金简约学术风毕业论文答辩PPT模板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2026-03-23T13:00:23Z</dcterms:created>
  <dcterms:modified xsi:type="dcterms:W3CDTF">2026-04-06T08:55:06Z</dcterms:modified>
  <cp:contentStatus>蓝金简约学术风毕业论文答辩PPT模板，www.51pptmoban.com</cp:contentStatus>
  <cp:version>51pptmoban.com（V51PPT-26040603版）</cp:version>
</cp:coreProperties>
</file>